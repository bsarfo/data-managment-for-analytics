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27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Institutional-Grade</a:t>
            </a:r>
            <a:endParaRPr lang="en-US" sz="3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Research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for Cross-Sectional Asset Pricing</a:t>
            </a:r>
          </a:p>
          <a:p>
            <a:pPr marL="0" indent="0" algn="ctr">
              <a:buNone/>
            </a:pPr>
            <a:endParaRPr lang="en-US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Kofi Owusu Sarfo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502 | Data Management for Analytics | WPI Business 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2026_DMA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CRSP/Compustat via WRDS, 1.35M observations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29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311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engineering, 11 factors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96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96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798064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classification, clustering, PCA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63824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638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36499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covering all required types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30752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307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optimization, Sharpe = 2.06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49884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implications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61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1,348,447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82880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261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14,666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82880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61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82880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261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yrs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1990 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060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CRSP Monthly Stock File: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prices, shares outstanding for NYSE/AMEX/NASDAQ common stocks (shrcd 10,11)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Compustat Annual Fundamentals: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and income statement (at, ceq, sale, ni, oibdp, capx)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CUSIP-8 backward asof join with 6-month availability lag (no look-ahead bias)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WRDS (Wharton Research Data Services) - same infrastructure used by academic researchers and quantitative hedge funds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&amp; Ethics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duplicate firm-months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null adjusted returns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non-positive market equity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Share codes validated (10, 11)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Exchange codes validated (1, 2, 3)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extreme returns → winsorized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58,538 negative B/E → flagged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749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Considerations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62763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Delisting returns included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snooping: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train/test split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WRDS academic access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financial data only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impact: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evidence, not guarantees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Exchange: NYSE 31.3% | AMEX 7.0% | NASDAQ 61.7%     Missing: capx 8.2% (highest), most variables &lt; 2%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Data Wrangling Pipeline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366017"/>
              </p:ext>
            </p:extLst>
          </p:nvPr>
        </p:nvGraphicFramePr>
        <p:xfrm>
          <a:off x="731520" y="1143000"/>
          <a:ext cx="7680960" cy="19202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dates, remove duplicates, drop null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1,348,447 rows (no removals)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penny stocks (|price| &lt; $1.00)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36,163 removed → 1,312,284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Winsorize returns (0.5th/99.5th pctl)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outliers clipped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11 factors + 6 accounting ratios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→ 65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Winsorize ratios (1st/99th pctl per month)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Cross-sectional cleaning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383280"/>
            <a:ext cx="365760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3" name="Text 3"/>
          <p:cNvSpPr/>
          <p:nvPr/>
        </p:nvSpPr>
        <p:spPr>
          <a:xfrm>
            <a:off x="8229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1,348,447 rows × 37 columns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CRSP/Compustat merge output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3383280"/>
            <a:ext cx="3657600" cy="13716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1,312,284 rows × 65 columns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 removed | 28 new features added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Engineered Cross-Sectional Factors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224853"/>
              </p:ext>
            </p:extLst>
          </p:nvPr>
        </p:nvGraphicFramePr>
        <p:xfrm>
          <a:off x="731520" y="1051560"/>
          <a:ext cx="6400800" cy="35112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ret t-12 to t-2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month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log(lagged market equity)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(B/M)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book_equity / lagged 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oibdp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capx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(dltt + dlc)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/ lagged 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60-month rolling CAPM (mean=1.065)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rolling 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Quintile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NYSE breakpoints, all stocks 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3a. Regression - Return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Out-of-sample: Jan 2016 – Nov 2023 (216,744 obs) | Train: Jul 1993 – Dec 2015 (606,584 obs)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49595"/>
              </p:ext>
            </p:extLst>
          </p:nvPr>
        </p:nvGraphicFramePr>
        <p:xfrm>
          <a:off x="731520" y="1325880"/>
          <a:ext cx="694944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L/S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1.17%/mo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1.26%/mo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1.44%/mo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8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8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produce statistically significant long/short spreads (t &gt; 2.0). Non-linear models (RF, XGBoost) achieve stronger economic results (1.43–1.44%/mo) vs. linear models (1.17–1.26%), suggesting factor interactions carry additional predictive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3b. Classification &amp; Clustering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(Up/Down)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53.89% accuracy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Classifier: 53.97% accuracy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above 50% random baseline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predicting “up” (89% recall)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 predicting “down” (16% recall)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74904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firm archetypes identified: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(17): Distressed turnaround firms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(734): High-beta, high-leverage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(523): Capital-intensive industrials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(251): Unprofitable, speculative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(914): Blue-chip growth (largest)</a:t>
            </a:r>
            <a:endParaRPr lang="en-US" sz="1200" dirty="0"/>
          </a:p>
        </p:txBody>
      </p:sp>
      <p:pic>
        <p:nvPicPr>
          <p:cNvPr id="9" name="Image 0" descr="/home/claude/report_images/10_classification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3749040" cy="1645920"/>
          </a:xfrm>
          <a:prstGeom prst="rect">
            <a:avLst/>
          </a:prstGeom>
        </p:spPr>
      </p:pic>
      <p:pic>
        <p:nvPicPr>
          <p:cNvPr id="10" name="Image 1" descr="/home/claude/report_images/12_cluster_profiles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08960"/>
            <a:ext cx="37490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3c. PCA &amp; Correlation Analysis</a:t>
            </a:r>
            <a:endParaRPr lang="en-US" sz="2800" dirty="0"/>
          </a:p>
        </p:txBody>
      </p:sp>
      <p:pic>
        <p:nvPicPr>
          <p:cNvPr id="3" name="Image 0" descr="/home/claude/report_images/13_pca_variance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572000" cy="1600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1051560"/>
            <a:ext cx="3474720" cy="16002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0352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 Correlations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03520" y="1417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× Volatility:  +0.385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× Value:  −0.379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× E/P:  +0.378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correlation &lt; 0.4 →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not redundant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5 components capture 63% of variance. No single component dominates (max 18.4%), confirming 11 factors capture multiple independent risk dimensions. Text mining: not applicable — dataset contains only structured numerical/categorical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Visualizations </a:t>
            </a:r>
            <a:endParaRPr lang="en-US" sz="2400" dirty="0"/>
          </a:p>
        </p:txBody>
      </p:sp>
      <p:pic>
        <p:nvPicPr>
          <p:cNvPr id="3" name="Image 0" descr="/home/claude/report_images/01_column_firms_per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39"/>
            <a:ext cx="4023360" cy="1798775"/>
          </a:xfrm>
          <a:prstGeom prst="rect">
            <a:avLst/>
          </a:prstGeom>
        </p:spPr>
      </p:pic>
      <p:pic>
        <p:nvPicPr>
          <p:cNvPr id="4" name="Image 1" descr="/home/claude/report_images/02_bar_factor_quintile_retu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114800" cy="1371600"/>
          </a:xfrm>
          <a:prstGeom prst="rect">
            <a:avLst/>
          </a:prstGeom>
        </p:spPr>
      </p:pic>
      <p:pic>
        <p:nvPicPr>
          <p:cNvPr id="5" name="Image 2" descr="/home/claude/report_images/03_pie_exchange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80359"/>
            <a:ext cx="3657600" cy="2094249"/>
          </a:xfrm>
          <a:prstGeom prst="rect">
            <a:avLst/>
          </a:prstGeom>
        </p:spPr>
      </p:pic>
      <p:pic>
        <p:nvPicPr>
          <p:cNvPr id="6" name="Image 3" descr="/home/claude/report_images/04_boxplot_retur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571750"/>
            <a:ext cx="4114800" cy="23414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Portfolio Construction &amp; Risk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6656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Holdings: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(5.0%), DLTR (5.0%), CLX (4.9%), GIS (4.5%), EW (4.1%), MO (4.0%)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tilts toward defensive/consumer staples (max-Sharpe favors steady returns) with high-momentum growth names (TSLA, NFLX).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 turnover vs equal-weight | 7.4 bps estimated transaction cost | Top 5 = 23.5% | Effective positions = 36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prediction is real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produce significant L/S spreads (t = 2.48–4.38) over 8-year OOS period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5486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Non-linear models add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RF/XGBoost achieve 1.43–1.44%/mo spread vs 1.17–1.26% for linear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5486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15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889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confirms 5 independent factor dimensions (63% variance) — no redundancy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28416"/>
            <a:ext cx="5486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 archetypes exist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identifies 5 interpretable clusters from blue-chip growth to distressed turnaround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5486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portfolio outcomes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optimizer delivers Sharpe = 2.06, 19.2% annual return, 55-stock diversification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502 | Managing Data for Analytics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 Business School | Spring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5923</TotalTime>
  <Words>1030</Words>
  <Application>Microsoft Office PowerPoint</Application>
  <PresentationFormat>On-screen Show (16:9)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Institutional-Grade Equity Research Pipeline</dc:title>
  <dc:subject>PptxGenJS Presentation</dc:subject>
  <dc:creator>MIS 502</dc:creator>
  <cp:lastModifiedBy>BISMARK KOFI OWUSU SARFO</cp:lastModifiedBy>
  <cp:revision>3</cp:revision>
  <dcterms:created xsi:type="dcterms:W3CDTF">2026-04-21T05:28:18Z</dcterms:created>
  <dcterms:modified xsi:type="dcterms:W3CDTF">2026-04-27T09:29:17Z</dcterms:modified>
</cp:coreProperties>
</file>